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8.xml" ContentType="application/vnd.openxmlformats-officedocument.theme+xml"/>
  <Override PartName="/ppt/theme/theme5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7" r:id="rId7"/>
    <p:sldMasterId id="2147483658" r:id="rId8"/>
    <p:sldMasterId id="2147483659" r:id="rId9"/>
    <p:sldMasterId id="2147483660" r:id="rId10"/>
    <p:sldMasterId id="2147483661" r:id="rId11"/>
    <p:sldMasterId id="2147483662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6522EC-22A9-4A46-951A-2269483289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F31E2A-BD11-4904-8982-A9DEBDD97E9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F16BE01-4C1E-496F-8770-78D88E46A79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A8B7BDC-6A44-46A6-8EE3-0F5AD1803E4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C7A73DB-E2A7-4C4A-80F0-2B8F3DAAC1D7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1A1CEB6-883C-4A84-A790-45FAC4961BBB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icon to add picture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378FF08-F16B-4475-96B9-F439AEA3D4B2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09E0ADD-7716-4B81-8D2A-222412A9E9D8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360D455-ACF6-4AD0-B3EA-0F09F684F746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411ABD2-E01C-4DF4-AF01-798A73101FFB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35A9F28-0D6B-4CFA-AE4D-D6D6A3A24FF2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6D5627F-5D6A-47F4-88A9-D75892F83354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6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0DAFF6E-75BE-4D39-A4A0-AF38975F093F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7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8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582FF5C-3107-4F69-B588-ED431886E269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D106879-1603-4992-BE56-F2CBEC7E49BB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5" descr="A logo with colorful figures&#10;&#10;Description automatically generated with medium confidence"/>
          <p:cNvPicPr/>
          <p:nvPr/>
        </p:nvPicPr>
        <p:blipFill>
          <a:blip r:embed="rId1"/>
          <a:stretch/>
        </p:blipFill>
        <p:spPr>
          <a:xfrm>
            <a:off x="5304240" y="140760"/>
            <a:ext cx="1582920" cy="1113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" name="Picture 6"/>
          <p:cNvPicPr/>
          <p:nvPr/>
        </p:nvPicPr>
        <p:blipFill>
          <a:blip r:embed="rId2"/>
          <a:stretch/>
        </p:blipFill>
        <p:spPr>
          <a:xfrm>
            <a:off x="10037160" y="96840"/>
            <a:ext cx="1582920" cy="1113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" name="Picture 8"/>
          <p:cNvPicPr/>
          <p:nvPr/>
        </p:nvPicPr>
        <p:blipFill>
          <a:blip r:embed="rId3"/>
          <a:stretch/>
        </p:blipFill>
        <p:spPr>
          <a:xfrm>
            <a:off x="89280" y="342720"/>
            <a:ext cx="3924360" cy="54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TextBox 9"/>
          <p:cNvSpPr/>
          <p:nvPr/>
        </p:nvSpPr>
        <p:spPr>
          <a:xfrm>
            <a:off x="1763640" y="1244160"/>
            <a:ext cx="86637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Times New Roman"/>
              </a:rPr>
              <a:t>International conference on Artificial Intelligence and Data Engineering – AIDE 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Calibri"/>
                <a:ea typeface="Calibri"/>
              </a:rPr>
              <a:t>5</a:t>
            </a:r>
            <a:r>
              <a:rPr lang="en-US" sz="1800" b="0" u="none" strike="noStrike" baseline="30000">
                <a:solidFill>
                  <a:srgbClr val="000099"/>
                </a:solidFill>
                <a:effectLst/>
                <a:uFillTx/>
                <a:latin typeface="Calibri"/>
                <a:ea typeface="Calibri"/>
              </a:rPr>
              <a:t>th</a:t>
            </a: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Calibri"/>
                <a:ea typeface="Calibri"/>
              </a:rPr>
              <a:t> - 7</a:t>
            </a:r>
            <a:r>
              <a:rPr lang="en-US" sz="1800" b="0" u="none" strike="noStrike" baseline="30000">
                <a:solidFill>
                  <a:srgbClr val="000099"/>
                </a:solidFill>
                <a:effectLst/>
                <a:uFillTx/>
                <a:latin typeface="Calibri"/>
                <a:ea typeface="Calibri"/>
              </a:rPr>
              <a:t>th  </a:t>
            </a: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Calibri"/>
              </a:rPr>
              <a:t>February 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1"/>
          <p:cNvSpPr/>
          <p:nvPr/>
        </p:nvSpPr>
        <p:spPr>
          <a:xfrm>
            <a:off x="2514600" y="2421360"/>
            <a:ext cx="6589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0099"/>
                </a:solidFill>
                <a:effectLst/>
                <a:uFillTx/>
                <a:latin typeface="Times New Roman"/>
              </a:rPr>
              <a:t>Paper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1" u="none" strike="noStrike">
                <a:solidFill>
                  <a:srgbClr val="000099"/>
                </a:solidFill>
                <a:effectLst/>
                <a:uFillTx/>
                <a:latin typeface="Times New Roman"/>
              </a:rPr>
              <a:t>ID: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589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12"/>
          <p:cNvSpPr/>
          <p:nvPr/>
        </p:nvSpPr>
        <p:spPr>
          <a:xfrm>
            <a:off x="2286000" y="3200400"/>
            <a:ext cx="676800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0099"/>
                </a:solidFill>
                <a:effectLst/>
                <a:uFillTx/>
                <a:latin typeface="Times New Roman"/>
              </a:rPr>
              <a:t>Paper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1" u="none" strike="noStrike">
                <a:solidFill>
                  <a:srgbClr val="000099"/>
                </a:solidFill>
                <a:effectLst/>
                <a:uFillTx/>
                <a:latin typeface="Times New Roman"/>
              </a:rPr>
              <a:t>Title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: EASEL:- Effective Actionable Surveillance with Enhanced Layered User Interfaces for Secure Remote Drone Identifciation using LoRa Communication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13"/>
          <p:cNvSpPr/>
          <p:nvPr/>
        </p:nvSpPr>
        <p:spPr>
          <a:xfrm>
            <a:off x="3206520" y="4390200"/>
            <a:ext cx="52516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0099"/>
                </a:solidFill>
                <a:effectLst/>
                <a:uFillTx/>
                <a:latin typeface="Times New Roman"/>
              </a:rPr>
              <a:t>Author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1" u="none" strike="noStrike">
                <a:solidFill>
                  <a:srgbClr val="000099"/>
                </a:solidFill>
                <a:effectLst/>
                <a:uFillTx/>
                <a:latin typeface="Times New Roman"/>
              </a:rPr>
              <a:t>Names: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Dr K N Rajanikanth, N Nishchit, Meghana Sathish, Shourya K 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4"/>
          <p:cNvSpPr/>
          <p:nvPr/>
        </p:nvSpPr>
        <p:spPr>
          <a:xfrm>
            <a:off x="3959280" y="5257800"/>
            <a:ext cx="33559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0099"/>
                </a:solidFill>
                <a:effectLst/>
                <a:uFillTx/>
                <a:latin typeface="Times New Roman"/>
              </a:rPr>
              <a:t>Presenter: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N Nishchit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"/>
          <p:cNvPicPr/>
          <p:nvPr/>
        </p:nvPicPr>
        <p:blipFill>
          <a:blip r:embed="rId4"/>
          <a:stretch/>
        </p:blipFill>
        <p:spPr>
          <a:xfrm>
            <a:off x="9144000" y="1856160"/>
            <a:ext cx="2743200" cy="271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"/>
          <p:cNvSpPr txBox="1"/>
          <p:nvPr/>
        </p:nvSpPr>
        <p:spPr>
          <a:xfrm>
            <a:off x="0" y="6370920"/>
            <a:ext cx="12192120" cy="513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Affiliation: Dept. of Electronics and Communication Engineering, BMS College of Engineering, Bengaluru, India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>
            <a:off x="6401160" y="4398120"/>
            <a:ext cx="4571640" cy="713160"/>
          </a:xfrm>
          <a:prstGeom prst="rect">
            <a:avLst/>
          </a:prstGeom>
          <a:solidFill>
            <a:srgbClr val="729fcf">
              <a:alpha val="37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dwaita Mono"/>
                <a:ea typeface="AR PL UKai CN"/>
              </a:rPr>
              <a:t>08: 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dwaita Mono"/>
              </a:rPr>
              <a:t>Conclusion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6400800" y="3684960"/>
            <a:ext cx="4571640" cy="713160"/>
          </a:xfrm>
          <a:prstGeom prst="rect">
            <a:avLst/>
          </a:prstGeom>
          <a:solidFill>
            <a:srgbClr val="729fcf">
              <a:alpha val="37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dwaita Mono"/>
                <a:ea typeface="AR PL UKai CN"/>
              </a:rPr>
              <a:t>07: 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dwaita Mono"/>
              </a:rPr>
              <a:t>Comparative Summary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6400800" y="2971800"/>
            <a:ext cx="4571640" cy="713160"/>
          </a:xfrm>
          <a:prstGeom prst="rect">
            <a:avLst/>
          </a:prstGeom>
          <a:solidFill>
            <a:srgbClr val="729fcf">
              <a:alpha val="37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dwaita Mono"/>
                <a:ea typeface="AR PL UKai CN"/>
              </a:rPr>
              <a:t>06: 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dwaita Mono"/>
              </a:rPr>
              <a:t>Results of Performance Metrics and User Interface Evaluation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6400800" y="2258640"/>
            <a:ext cx="4571640" cy="713160"/>
          </a:xfrm>
          <a:prstGeom prst="rect">
            <a:avLst/>
          </a:prstGeom>
          <a:solidFill>
            <a:srgbClr val="729fcf">
              <a:alpha val="37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dwaita Mono"/>
                <a:ea typeface="AR PL UKai CN"/>
              </a:rPr>
              <a:t>05: 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dwaita Mono"/>
              </a:rPr>
              <a:t>GUI and Work Load Assessment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1143360" y="4398120"/>
            <a:ext cx="4571640" cy="713160"/>
          </a:xfrm>
          <a:prstGeom prst="rect">
            <a:avLst/>
          </a:prstGeom>
          <a:solidFill>
            <a:srgbClr val="729fcf">
              <a:alpha val="37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dwaita Mono"/>
                <a:ea typeface="AR PL UKai CN"/>
              </a:rPr>
              <a:t>04: 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dwaita Mono"/>
              </a:rPr>
              <a:t>Methodology (Flowchart)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1143360" y="3684960"/>
            <a:ext cx="4571640" cy="713160"/>
          </a:xfrm>
          <a:prstGeom prst="rect">
            <a:avLst/>
          </a:prstGeom>
          <a:solidFill>
            <a:srgbClr val="729fcf">
              <a:alpha val="37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dwaita Mono"/>
              </a:rPr>
              <a:t>03: Proposed Work (System Overview)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1143360" y="2971800"/>
            <a:ext cx="4571640" cy="713160"/>
          </a:xfrm>
          <a:prstGeom prst="rect">
            <a:avLst/>
          </a:prstGeom>
          <a:solidFill>
            <a:srgbClr val="729fcf">
              <a:alpha val="37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dwaita Mono"/>
              </a:rPr>
              <a:t>02: Prior Work / Literature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1143360" y="2258640"/>
            <a:ext cx="4571640" cy="713160"/>
          </a:xfrm>
          <a:prstGeom prst="rect">
            <a:avLst/>
          </a:prstGeom>
          <a:solidFill>
            <a:srgbClr val="729fcf">
              <a:alpha val="37000"/>
            </a:srgbClr>
          </a:solidFill>
          <a:ln w="126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dwaita Mono"/>
              </a:rPr>
              <a:t>01: Introduction and Problem Statement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Picture 5" descr="A logo with colorful figures&#10;&#10;Description automatically generated with medium confidence"/>
          <p:cNvPicPr/>
          <p:nvPr/>
        </p:nvPicPr>
        <p:blipFill>
          <a:blip r:embed="rId1"/>
          <a:stretch/>
        </p:blipFill>
        <p:spPr>
          <a:xfrm>
            <a:off x="5304240" y="140760"/>
            <a:ext cx="1582920" cy="1113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Picture 6"/>
          <p:cNvPicPr/>
          <p:nvPr/>
        </p:nvPicPr>
        <p:blipFill>
          <a:blip r:embed="rId2"/>
          <a:stretch/>
        </p:blipFill>
        <p:spPr>
          <a:xfrm>
            <a:off x="10081800" y="0"/>
            <a:ext cx="1582920" cy="134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Picture 8"/>
          <p:cNvPicPr/>
          <p:nvPr/>
        </p:nvPicPr>
        <p:blipFill>
          <a:blip r:embed="rId3"/>
          <a:stretch/>
        </p:blipFill>
        <p:spPr>
          <a:xfrm>
            <a:off x="89280" y="342720"/>
            <a:ext cx="3924360" cy="54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TextBox 9"/>
          <p:cNvSpPr/>
          <p:nvPr/>
        </p:nvSpPr>
        <p:spPr>
          <a:xfrm>
            <a:off x="1763640" y="1193760"/>
            <a:ext cx="86637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Times New Roman"/>
              </a:rPr>
              <a:t>International conference on Artificial Intelligence and Data Engineering – AIDE 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Calibri"/>
                <a:ea typeface="Calibri"/>
              </a:rPr>
              <a:t>5</a:t>
            </a:r>
            <a:r>
              <a:rPr lang="en-US" sz="1800" b="0" u="none" strike="noStrike" baseline="30000">
                <a:solidFill>
                  <a:srgbClr val="000099"/>
                </a:solidFill>
                <a:effectLst/>
                <a:uFillTx/>
                <a:latin typeface="Calibri"/>
                <a:ea typeface="Calibri"/>
              </a:rPr>
              <a:t>th</a:t>
            </a: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Calibri"/>
                <a:ea typeface="Calibri"/>
              </a:rPr>
              <a:t> - 7</a:t>
            </a:r>
            <a:r>
              <a:rPr lang="en-US" sz="1800" b="0" u="none" strike="noStrike" baseline="30000">
                <a:solidFill>
                  <a:srgbClr val="000099"/>
                </a:solidFill>
                <a:effectLst/>
                <a:uFillTx/>
                <a:latin typeface="Calibri"/>
                <a:ea typeface="Calibri"/>
              </a:rPr>
              <a:t>th  </a:t>
            </a: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Calibri"/>
              </a:rPr>
              <a:t>February 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1"/>
          <p:cNvSpPr>
            <a:spLocks noGrp="1"/>
          </p:cNvSpPr>
          <p:nvPr>
            <p:ph type="ftr" idx="34"/>
          </p:nvPr>
        </p:nvSpPr>
        <p:spPr>
          <a:xfrm>
            <a:off x="2521080" y="6356520"/>
            <a:ext cx="71949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International Conference on Artificial Intelligence and Data Engineering (AIDE-2026)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686160" y="4083120"/>
            <a:ext cx="4571640" cy="13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sp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dwaita Mono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dwaita Mono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dwaita Mono"/>
            </a:endParaRPr>
          </a:p>
        </p:txBody>
      </p:sp>
      <p:sp>
        <p:nvSpPr>
          <p:cNvPr id="92" name=""/>
          <p:cNvSpPr/>
          <p:nvPr/>
        </p:nvSpPr>
        <p:spPr>
          <a:xfrm>
            <a:off x="914400" y="1600200"/>
            <a:ext cx="234396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Agenda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6648480" y="5226840"/>
            <a:ext cx="4571640" cy="85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sp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dwaita Mono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dwaita Mono"/>
            </a:endParaRPr>
          </a:p>
        </p:txBody>
      </p:sp>
      <p:sp>
        <p:nvSpPr>
          <p:cNvPr id="94" name=""/>
          <p:cNvSpPr/>
          <p:nvPr/>
        </p:nvSpPr>
        <p:spPr>
          <a:xfrm>
            <a:off x="3886200" y="5111280"/>
            <a:ext cx="4571640" cy="713160"/>
          </a:xfrm>
          <a:prstGeom prst="rect">
            <a:avLst/>
          </a:prstGeom>
          <a:solidFill>
            <a:srgbClr val="729fcf">
              <a:alpha val="37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dwaita Mono"/>
              </a:rPr>
              <a:t>09: References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Picture 1" descr="A logo with colorful figures&#10;&#10;Description automatically generated with medium confidence"/>
          <p:cNvPicPr/>
          <p:nvPr/>
        </p:nvPicPr>
        <p:blipFill>
          <a:blip r:embed="rId1"/>
          <a:stretch/>
        </p:blipFill>
        <p:spPr>
          <a:xfrm>
            <a:off x="5304240" y="140760"/>
            <a:ext cx="1582920" cy="1113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6" name="Picture 2"/>
          <p:cNvPicPr/>
          <p:nvPr/>
        </p:nvPicPr>
        <p:blipFill>
          <a:blip r:embed="rId2"/>
          <a:stretch/>
        </p:blipFill>
        <p:spPr>
          <a:xfrm>
            <a:off x="10081800" y="0"/>
            <a:ext cx="1582920" cy="134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7" name="Picture 3"/>
          <p:cNvPicPr/>
          <p:nvPr/>
        </p:nvPicPr>
        <p:blipFill>
          <a:blip r:embed="rId3"/>
          <a:stretch/>
        </p:blipFill>
        <p:spPr>
          <a:xfrm>
            <a:off x="89280" y="342720"/>
            <a:ext cx="3924360" cy="54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TextBox 1"/>
          <p:cNvSpPr/>
          <p:nvPr/>
        </p:nvSpPr>
        <p:spPr>
          <a:xfrm>
            <a:off x="1763640" y="1193760"/>
            <a:ext cx="86637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Times New Roman"/>
              </a:rPr>
              <a:t>International conference on Artificial Intelligence and Data Engineering – AIDE 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Calibri"/>
                <a:ea typeface="Calibri"/>
              </a:rPr>
              <a:t>5</a:t>
            </a:r>
            <a:r>
              <a:rPr lang="en-US" sz="1800" b="0" u="none" strike="noStrike" baseline="30000">
                <a:solidFill>
                  <a:srgbClr val="000099"/>
                </a:solidFill>
                <a:effectLst/>
                <a:uFillTx/>
                <a:latin typeface="Calibri"/>
                <a:ea typeface="Calibri"/>
              </a:rPr>
              <a:t>th</a:t>
            </a: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Calibri"/>
                <a:ea typeface="Calibri"/>
              </a:rPr>
              <a:t> - 7</a:t>
            </a:r>
            <a:r>
              <a:rPr lang="en-US" sz="1800" b="0" u="none" strike="noStrike" baseline="30000">
                <a:solidFill>
                  <a:srgbClr val="000099"/>
                </a:solidFill>
                <a:effectLst/>
                <a:uFillTx/>
                <a:latin typeface="Calibri"/>
                <a:ea typeface="Calibri"/>
              </a:rPr>
              <a:t>th  </a:t>
            </a: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Calibri"/>
              </a:rPr>
              <a:t>February 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1"/>
          <p:cNvSpPr>
            <a:spLocks noGrp="1"/>
          </p:cNvSpPr>
          <p:nvPr>
            <p:ph type="ftr" idx="35"/>
          </p:nvPr>
        </p:nvSpPr>
        <p:spPr>
          <a:xfrm>
            <a:off x="2521080" y="6356520"/>
            <a:ext cx="71949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International Conference on Artificial Intelligence and Data Engineering (AIDE-2026)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3581280" y="4552560"/>
            <a:ext cx="8534520" cy="16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Range Limitation: Standard Remote ID is effective only &lt;300m (Line of Sight).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Lack of Actionable Visualization: Raw telemetry data overwhelms operators; existing tools lack "friend-or-foe" context.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Security Vulnerability: Unencrypted broadcasts allow spoofing and unauthorized tracking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457560" y="4799520"/>
            <a:ext cx="34286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Problem Statement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3660480" y="2342520"/>
            <a:ext cx="8226720" cy="131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216000" indent="-216000">
              <a:lnSpc>
                <a:spcPct val="96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 PL UKai CN"/>
              </a:rPr>
              <a:t>Rapid proliferation of civilian and tactical drones requires robust monitoring.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96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 PL UKai CN"/>
              </a:rPr>
              <a:t>Current "Remote ID" standards (WiFi/BLE) lack range for rural/border surveillance.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96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 PL UKai CN"/>
              </a:rPr>
              <a:t>Operator cognitive overload is a critical failure point in multi-drone tracking.`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987120" y="2770200"/>
            <a:ext cx="1984680" cy="430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Introduction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0" y="4233600"/>
            <a:ext cx="1219212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Picture 13" descr="A logo with colorful figures&#10;&#10;Description automatically generated with medium confidence"/>
          <p:cNvPicPr/>
          <p:nvPr/>
        </p:nvPicPr>
        <p:blipFill>
          <a:blip r:embed="rId1"/>
          <a:stretch/>
        </p:blipFill>
        <p:spPr>
          <a:xfrm>
            <a:off x="5304240" y="140760"/>
            <a:ext cx="1582920" cy="1113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6" name="Picture 14"/>
          <p:cNvPicPr/>
          <p:nvPr/>
        </p:nvPicPr>
        <p:blipFill>
          <a:blip r:embed="rId2"/>
          <a:stretch/>
        </p:blipFill>
        <p:spPr>
          <a:xfrm>
            <a:off x="10081800" y="0"/>
            <a:ext cx="1582920" cy="134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7" name="Picture 15"/>
          <p:cNvPicPr/>
          <p:nvPr/>
        </p:nvPicPr>
        <p:blipFill>
          <a:blip r:embed="rId3"/>
          <a:stretch/>
        </p:blipFill>
        <p:spPr>
          <a:xfrm>
            <a:off x="89280" y="342720"/>
            <a:ext cx="3924360" cy="54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Box 5"/>
          <p:cNvSpPr/>
          <p:nvPr/>
        </p:nvSpPr>
        <p:spPr>
          <a:xfrm>
            <a:off x="1763640" y="1193760"/>
            <a:ext cx="86637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Times New Roman"/>
              </a:rPr>
              <a:t>International conference on Artificial Intelligence and Data Engineering – AIDE 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Calibri"/>
                <a:ea typeface="Calibri"/>
              </a:rPr>
              <a:t>5</a:t>
            </a:r>
            <a:r>
              <a:rPr lang="en-US" sz="1800" b="0" u="none" strike="noStrike" baseline="30000">
                <a:solidFill>
                  <a:srgbClr val="000099"/>
                </a:solidFill>
                <a:effectLst/>
                <a:uFillTx/>
                <a:latin typeface="Calibri"/>
                <a:ea typeface="Calibri"/>
              </a:rPr>
              <a:t>th</a:t>
            </a: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Calibri"/>
                <a:ea typeface="Calibri"/>
              </a:rPr>
              <a:t> - 7</a:t>
            </a:r>
            <a:r>
              <a:rPr lang="en-US" sz="1800" b="0" u="none" strike="noStrike" baseline="30000">
                <a:solidFill>
                  <a:srgbClr val="000099"/>
                </a:solidFill>
                <a:effectLst/>
                <a:uFillTx/>
                <a:latin typeface="Calibri"/>
                <a:ea typeface="Calibri"/>
              </a:rPr>
              <a:t>th  </a:t>
            </a: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Calibri"/>
              </a:rPr>
              <a:t>February 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1"/>
          <p:cNvSpPr>
            <a:spLocks noGrp="1"/>
          </p:cNvSpPr>
          <p:nvPr>
            <p:ph type="ftr" idx="36"/>
          </p:nvPr>
        </p:nvSpPr>
        <p:spPr>
          <a:xfrm>
            <a:off x="2521080" y="6356520"/>
            <a:ext cx="71949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International Conference on Artificial Intelligence and Data Engineering (AIDE-2026)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1530360" y="2743200"/>
            <a:ext cx="9670680" cy="28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Chen et al. [25]: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"Human-in-the-loop UAV Ground Control Systems" – Highlights the need for reducing operator workload in GCS design.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Endsley [19]: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"Designing for Situation Awareness" – Establishes the 3-level model (Perception, Comprehension, Projection) used in our UI.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Parasuraman &amp; Riley [24]: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Discusses "Humans and Automation," warning against over-reliance on automated filtering without human oversight.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FAA Part 89 [1]: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Mandates digital license plates but fails to define visualization standards for the receiver side.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914400" y="1981800"/>
            <a:ext cx="4343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Prior Work / Literature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10" descr="A logo with colorful figures&#10;&#10;Description automatically generated with medium confidence"/>
          <p:cNvPicPr/>
          <p:nvPr/>
        </p:nvPicPr>
        <p:blipFill>
          <a:blip r:embed="rId1"/>
          <a:stretch/>
        </p:blipFill>
        <p:spPr>
          <a:xfrm>
            <a:off x="5304240" y="140760"/>
            <a:ext cx="1582920" cy="1113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3" name="Picture 11"/>
          <p:cNvPicPr/>
          <p:nvPr/>
        </p:nvPicPr>
        <p:blipFill>
          <a:blip r:embed="rId2"/>
          <a:stretch/>
        </p:blipFill>
        <p:spPr>
          <a:xfrm>
            <a:off x="10081800" y="0"/>
            <a:ext cx="1582920" cy="134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" name="Picture 12"/>
          <p:cNvPicPr/>
          <p:nvPr/>
        </p:nvPicPr>
        <p:blipFill>
          <a:blip r:embed="rId3"/>
          <a:stretch/>
        </p:blipFill>
        <p:spPr>
          <a:xfrm>
            <a:off x="89280" y="342720"/>
            <a:ext cx="3924360" cy="54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TextBox 4"/>
          <p:cNvSpPr/>
          <p:nvPr/>
        </p:nvSpPr>
        <p:spPr>
          <a:xfrm>
            <a:off x="1763640" y="1193760"/>
            <a:ext cx="86637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Times New Roman"/>
              </a:rPr>
              <a:t>International conference on Artificial Intelligence and Data Engineering – AIDE 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Calibri"/>
                <a:ea typeface="Calibri"/>
              </a:rPr>
              <a:t>5</a:t>
            </a:r>
            <a:r>
              <a:rPr lang="en-US" sz="1800" b="0" u="none" strike="noStrike" baseline="30000">
                <a:solidFill>
                  <a:srgbClr val="000099"/>
                </a:solidFill>
                <a:effectLst/>
                <a:uFillTx/>
                <a:latin typeface="Calibri"/>
                <a:ea typeface="Calibri"/>
              </a:rPr>
              <a:t>th</a:t>
            </a: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Calibri"/>
                <a:ea typeface="Calibri"/>
              </a:rPr>
              <a:t> - 7</a:t>
            </a:r>
            <a:r>
              <a:rPr lang="en-US" sz="1800" b="0" u="none" strike="noStrike" baseline="30000">
                <a:solidFill>
                  <a:srgbClr val="000099"/>
                </a:solidFill>
                <a:effectLst/>
                <a:uFillTx/>
                <a:latin typeface="Calibri"/>
                <a:ea typeface="Calibri"/>
              </a:rPr>
              <a:t>th  </a:t>
            </a: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Calibri"/>
              </a:rPr>
              <a:t>February 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1"/>
          <p:cNvSpPr>
            <a:spLocks noGrp="1"/>
          </p:cNvSpPr>
          <p:nvPr>
            <p:ph type="ftr" idx="37"/>
          </p:nvPr>
        </p:nvSpPr>
        <p:spPr>
          <a:xfrm>
            <a:off x="2521080" y="6356520"/>
            <a:ext cx="71949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International Conference on Artificial Intelligence and Data Engineering (AIDE-2026)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685800" y="2514600"/>
            <a:ext cx="11201040" cy="358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EASEL Framework: A layered UAV identification framework integrating long-range LoRa telemetry with a human-centered interface.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Key Innovation: Combines secure, encrypted transmission (AES-128) with a real-time, map-driven dashboard.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Architecture Layers: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UAV Transmitter: ESP32 + SX1278 LoRa (868 MHz).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Ground Receiver: Arduino Uno + SX1278.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Backend: Python-based processing for decryption and geofencing.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Interface: Browser-based Leaflet.js dashboard.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730800" y="2057400"/>
            <a:ext cx="61268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Proposed Work: EASEL Overview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9" name=""/>
          <p:cNvPicPr/>
          <p:nvPr/>
        </p:nvPicPr>
        <p:blipFill>
          <a:blip r:embed="rId4"/>
          <a:stretch/>
        </p:blipFill>
        <p:spPr>
          <a:xfrm>
            <a:off x="6629400" y="2286000"/>
            <a:ext cx="5257800" cy="5257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Picture 37" descr="A logo with colorful figures&#10;&#10;Description automatically generated with medium confidence"/>
          <p:cNvPicPr/>
          <p:nvPr/>
        </p:nvPicPr>
        <p:blipFill>
          <a:blip r:embed="rId1"/>
          <a:stretch/>
        </p:blipFill>
        <p:spPr>
          <a:xfrm>
            <a:off x="5304240" y="140760"/>
            <a:ext cx="1582920" cy="1113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Picture 38"/>
          <p:cNvPicPr/>
          <p:nvPr/>
        </p:nvPicPr>
        <p:blipFill>
          <a:blip r:embed="rId2"/>
          <a:stretch/>
        </p:blipFill>
        <p:spPr>
          <a:xfrm>
            <a:off x="10081800" y="0"/>
            <a:ext cx="1582920" cy="134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2" name="Picture 39"/>
          <p:cNvPicPr/>
          <p:nvPr/>
        </p:nvPicPr>
        <p:blipFill>
          <a:blip r:embed="rId3"/>
          <a:stretch/>
        </p:blipFill>
        <p:spPr>
          <a:xfrm>
            <a:off x="89280" y="342720"/>
            <a:ext cx="3924360" cy="54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TextBox 17"/>
          <p:cNvSpPr/>
          <p:nvPr/>
        </p:nvSpPr>
        <p:spPr>
          <a:xfrm>
            <a:off x="1763640" y="1193760"/>
            <a:ext cx="86637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Times New Roman"/>
              </a:rPr>
              <a:t>International conference on Artificial Intelligence and Data Engineering – AIDE 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Calibri"/>
                <a:ea typeface="Calibri"/>
              </a:rPr>
              <a:t>5</a:t>
            </a:r>
            <a:r>
              <a:rPr lang="en-US" sz="1800" b="0" u="none" strike="noStrike" baseline="30000">
                <a:solidFill>
                  <a:srgbClr val="000099"/>
                </a:solidFill>
                <a:effectLst/>
                <a:uFillTx/>
                <a:latin typeface="Calibri"/>
                <a:ea typeface="Calibri"/>
              </a:rPr>
              <a:t>th</a:t>
            </a: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Calibri"/>
                <a:ea typeface="Calibri"/>
              </a:rPr>
              <a:t> - 7</a:t>
            </a:r>
            <a:r>
              <a:rPr lang="en-US" sz="1800" b="0" u="none" strike="noStrike" baseline="30000">
                <a:solidFill>
                  <a:srgbClr val="000099"/>
                </a:solidFill>
                <a:effectLst/>
                <a:uFillTx/>
                <a:latin typeface="Calibri"/>
                <a:ea typeface="Calibri"/>
              </a:rPr>
              <a:t>th  </a:t>
            </a: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Calibri"/>
              </a:rPr>
              <a:t>February 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1"/>
          <p:cNvSpPr>
            <a:spLocks noGrp="1"/>
          </p:cNvSpPr>
          <p:nvPr>
            <p:ph type="ftr" idx="38"/>
          </p:nvPr>
        </p:nvSpPr>
        <p:spPr>
          <a:xfrm>
            <a:off x="2521080" y="6356520"/>
            <a:ext cx="71949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International Conference on Artificial Intelligence and Data Engineering (AIDE-2026)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868320" y="1601280"/>
            <a:ext cx="73612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Methodology - Flowchart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"/>
          <p:cNvPicPr/>
          <p:nvPr/>
        </p:nvPicPr>
        <p:blipFill>
          <a:blip r:embed="rId4"/>
          <a:stretch/>
        </p:blipFill>
        <p:spPr>
          <a:xfrm>
            <a:off x="1813680" y="2057400"/>
            <a:ext cx="9159120" cy="4114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Picture 31" descr="A logo with colorful figures&#10;&#10;Description automatically generated with medium confidence"/>
          <p:cNvPicPr/>
          <p:nvPr/>
        </p:nvPicPr>
        <p:blipFill>
          <a:blip r:embed="rId1"/>
          <a:stretch/>
        </p:blipFill>
        <p:spPr>
          <a:xfrm>
            <a:off x="5304240" y="140760"/>
            <a:ext cx="1582920" cy="1113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Picture 32"/>
          <p:cNvPicPr/>
          <p:nvPr/>
        </p:nvPicPr>
        <p:blipFill>
          <a:blip r:embed="rId2"/>
          <a:stretch/>
        </p:blipFill>
        <p:spPr>
          <a:xfrm>
            <a:off x="10081800" y="0"/>
            <a:ext cx="1582920" cy="134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Picture 33"/>
          <p:cNvPicPr/>
          <p:nvPr/>
        </p:nvPicPr>
        <p:blipFill>
          <a:blip r:embed="rId3"/>
          <a:stretch/>
        </p:blipFill>
        <p:spPr>
          <a:xfrm>
            <a:off x="89280" y="342720"/>
            <a:ext cx="3924360" cy="54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TextBox 16"/>
          <p:cNvSpPr/>
          <p:nvPr/>
        </p:nvSpPr>
        <p:spPr>
          <a:xfrm>
            <a:off x="1763640" y="1193760"/>
            <a:ext cx="86637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Times New Roman"/>
              </a:rPr>
              <a:t>International conference on Artificial Intelligence and Data Engineering – AIDE 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Calibri"/>
                <a:ea typeface="Calibri"/>
              </a:rPr>
              <a:t>5</a:t>
            </a:r>
            <a:r>
              <a:rPr lang="en-US" sz="1800" b="0" u="none" strike="noStrike" baseline="30000">
                <a:solidFill>
                  <a:srgbClr val="000099"/>
                </a:solidFill>
                <a:effectLst/>
                <a:uFillTx/>
                <a:latin typeface="Calibri"/>
                <a:ea typeface="Calibri"/>
              </a:rPr>
              <a:t>th</a:t>
            </a: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Calibri"/>
                <a:ea typeface="Calibri"/>
              </a:rPr>
              <a:t> - 7</a:t>
            </a:r>
            <a:r>
              <a:rPr lang="en-US" sz="1800" b="0" u="none" strike="noStrike" baseline="30000">
                <a:solidFill>
                  <a:srgbClr val="000099"/>
                </a:solidFill>
                <a:effectLst/>
                <a:uFillTx/>
                <a:latin typeface="Calibri"/>
                <a:ea typeface="Calibri"/>
              </a:rPr>
              <a:t>th  </a:t>
            </a: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Calibri"/>
              </a:rPr>
              <a:t>February 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1"/>
          <p:cNvSpPr>
            <a:spLocks noGrp="1"/>
          </p:cNvSpPr>
          <p:nvPr>
            <p:ph type="ftr" idx="39"/>
          </p:nvPr>
        </p:nvSpPr>
        <p:spPr>
          <a:xfrm>
            <a:off x="2521080" y="6356520"/>
            <a:ext cx="71949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International Conference on Artificial Intelligence and Data Engineering (AIDE-2026)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0" y="2547720"/>
            <a:ext cx="12192120" cy="357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60000">
              <a:lnSpc>
                <a:spcPct val="100000"/>
              </a:lnSpc>
            </a:pPr>
            <a:r>
              <a:rPr lang="en-US" sz="1600" b="1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Design Philosophy: Focus on Situational Awareness (SA) using Endsley’s three-level model (Perception, Comprehension, Projection).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  <a:ea typeface="AR PL UKai CN"/>
            </a:endParaRPr>
          </a:p>
          <a:p>
            <a:pPr marL="1440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Cognitive Load Management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Designed using principles from NASA-TLX and Bedford Workload Scale.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  <a:ea typeface="AR PL UKai CN"/>
            </a:endParaRPr>
          </a:p>
          <a:p>
            <a:pPr marL="1440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Problem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High mental workload leads to missed detections.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  <a:ea typeface="AR PL UKai CN"/>
            </a:endParaRPr>
          </a:p>
          <a:p>
            <a:pPr marL="1440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Solution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Replaced raw text data with Pre-attentive Visual Cues: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  <a:ea typeface="AR PL UKai CN"/>
            </a:endParaRPr>
          </a:p>
          <a:p>
            <a:pPr marL="1440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Color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Coding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Red (Hostile), Green (Friendly), Amber (Stale Data).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  <a:ea typeface="AR PL UKai CN"/>
            </a:endParaRPr>
          </a:p>
          <a:p>
            <a:pPr marL="1440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Geofence Pulsing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Visual alarm triggers before cognitive recognition is required.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  <a:ea typeface="AR PL UKai CN"/>
            </a:endParaRPr>
          </a:p>
          <a:p>
            <a:pPr marL="1440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Impact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Reduces "Search" time and lowers operator fatigue score.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  <a:ea typeface="AR PL UKai CN"/>
            </a:endParaRPr>
          </a:p>
        </p:txBody>
      </p:sp>
      <p:sp>
        <p:nvSpPr>
          <p:cNvPr id="133" name=""/>
          <p:cNvSpPr/>
          <p:nvPr/>
        </p:nvSpPr>
        <p:spPr>
          <a:xfrm>
            <a:off x="914400" y="1860480"/>
            <a:ext cx="699156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GUI &amp; Workload Assessment</a:t>
            </a:r>
            <a:endParaRPr lang="en-US" sz="2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Picture 16" descr="A logo with colorful figures&#10;&#10;Description automatically generated with medium confidence"/>
          <p:cNvPicPr/>
          <p:nvPr/>
        </p:nvPicPr>
        <p:blipFill>
          <a:blip r:embed="rId1"/>
          <a:stretch/>
        </p:blipFill>
        <p:spPr>
          <a:xfrm>
            <a:off x="5304240" y="140760"/>
            <a:ext cx="1582920" cy="1113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5" name="Picture 17"/>
          <p:cNvPicPr/>
          <p:nvPr/>
        </p:nvPicPr>
        <p:blipFill>
          <a:blip r:embed="rId2"/>
          <a:stretch/>
        </p:blipFill>
        <p:spPr>
          <a:xfrm>
            <a:off x="10081800" y="0"/>
            <a:ext cx="1582920" cy="134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6" name="Picture 18"/>
          <p:cNvPicPr/>
          <p:nvPr/>
        </p:nvPicPr>
        <p:blipFill>
          <a:blip r:embed="rId3"/>
          <a:stretch/>
        </p:blipFill>
        <p:spPr>
          <a:xfrm>
            <a:off x="89280" y="342720"/>
            <a:ext cx="3924360" cy="54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TextBox 6"/>
          <p:cNvSpPr/>
          <p:nvPr/>
        </p:nvSpPr>
        <p:spPr>
          <a:xfrm>
            <a:off x="1763640" y="1193760"/>
            <a:ext cx="86637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Times New Roman"/>
              </a:rPr>
              <a:t>International conference on Artificial Intelligence and Data Engineering – AIDE 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Calibri"/>
                <a:ea typeface="Calibri"/>
              </a:rPr>
              <a:t>5</a:t>
            </a:r>
            <a:r>
              <a:rPr lang="en-US" sz="1800" b="0" u="none" strike="noStrike" baseline="30000">
                <a:solidFill>
                  <a:srgbClr val="000099"/>
                </a:solidFill>
                <a:effectLst/>
                <a:uFillTx/>
                <a:latin typeface="Calibri"/>
                <a:ea typeface="Calibri"/>
              </a:rPr>
              <a:t>th</a:t>
            </a: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Calibri"/>
                <a:ea typeface="Calibri"/>
              </a:rPr>
              <a:t> - 7</a:t>
            </a:r>
            <a:r>
              <a:rPr lang="en-US" sz="1800" b="0" u="none" strike="noStrike" baseline="30000">
                <a:solidFill>
                  <a:srgbClr val="000099"/>
                </a:solidFill>
                <a:effectLst/>
                <a:uFillTx/>
                <a:latin typeface="Calibri"/>
                <a:ea typeface="Calibri"/>
              </a:rPr>
              <a:t>th  </a:t>
            </a: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Calibri"/>
              </a:rPr>
              <a:t>February 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1"/>
          <p:cNvSpPr>
            <a:spLocks noGrp="1"/>
          </p:cNvSpPr>
          <p:nvPr>
            <p:ph type="ftr" idx="40"/>
          </p:nvPr>
        </p:nvSpPr>
        <p:spPr>
          <a:xfrm>
            <a:off x="2521080" y="6356520"/>
            <a:ext cx="71949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International Conference on Artificial Intelligence and Data Engineering (AIDE-2026)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1721520" y="2572920"/>
            <a:ext cx="9022320" cy="13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914400" y="2057400"/>
            <a:ext cx="583344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Results: Performance Metrics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1" name=""/>
          <p:cNvGraphicFramePr/>
          <p:nvPr/>
        </p:nvGraphicFramePr>
        <p:xfrm>
          <a:off x="2057400" y="2881080"/>
          <a:ext cx="8458200" cy="3062520"/>
        </p:xfrm>
        <a:graphic>
          <a:graphicData uri="http://schemas.openxmlformats.org/drawingml/2006/table">
            <a:tbl>
              <a:tblPr/>
              <a:tblGrid>
                <a:gridCol w="2819160"/>
                <a:gridCol w="2819160"/>
                <a:gridCol w="2819880"/>
              </a:tblGrid>
              <a:tr h="95436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Parameter</a:t>
                      </a:r>
                      <a:endParaRPr lang="en-US" sz="18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Measured Value</a:t>
                      </a:r>
                      <a:endParaRPr lang="en-US" sz="18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Conditions</a:t>
                      </a:r>
                      <a:endParaRPr lang="en-US" sz="18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2156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Max Range Possible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5.2 km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Rural Line-of-Sight (LoS)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2156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Packet Success Rate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&gt; 92%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Distances &lt; 4km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2156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End-to-End Latency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0.82 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Average (processing + flight time)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2156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Frame Rate (GUI)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55 FPS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50 Simultaneous Drones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219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Re-acquisition Time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&lt; 2 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After temporary signal loss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Picture 19" descr="A logo with colorful figures&#10;&#10;Description automatically generated with medium confidence"/>
          <p:cNvPicPr/>
          <p:nvPr/>
        </p:nvPicPr>
        <p:blipFill>
          <a:blip r:embed="rId1"/>
          <a:stretch/>
        </p:blipFill>
        <p:spPr>
          <a:xfrm>
            <a:off x="5304240" y="140760"/>
            <a:ext cx="1582920" cy="1113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3" name="Picture 20"/>
          <p:cNvPicPr/>
          <p:nvPr/>
        </p:nvPicPr>
        <p:blipFill>
          <a:blip r:embed="rId2"/>
          <a:stretch/>
        </p:blipFill>
        <p:spPr>
          <a:xfrm>
            <a:off x="10081800" y="0"/>
            <a:ext cx="1582920" cy="134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4" name="Picture 21"/>
          <p:cNvPicPr/>
          <p:nvPr/>
        </p:nvPicPr>
        <p:blipFill>
          <a:blip r:embed="rId3"/>
          <a:stretch/>
        </p:blipFill>
        <p:spPr>
          <a:xfrm>
            <a:off x="89280" y="342720"/>
            <a:ext cx="3924360" cy="54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TextBox 7"/>
          <p:cNvSpPr/>
          <p:nvPr/>
        </p:nvSpPr>
        <p:spPr>
          <a:xfrm>
            <a:off x="1763640" y="1193760"/>
            <a:ext cx="86637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Times New Roman"/>
              </a:rPr>
              <a:t>International conference on Artificial Intelligence and Data Engineering – AIDE 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Calibri"/>
                <a:ea typeface="Calibri"/>
              </a:rPr>
              <a:t>5</a:t>
            </a:r>
            <a:r>
              <a:rPr lang="en-US" sz="1800" b="0" u="none" strike="noStrike" baseline="30000">
                <a:solidFill>
                  <a:srgbClr val="000099"/>
                </a:solidFill>
                <a:effectLst/>
                <a:uFillTx/>
                <a:latin typeface="Calibri"/>
                <a:ea typeface="Calibri"/>
              </a:rPr>
              <a:t>th</a:t>
            </a: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Calibri"/>
                <a:ea typeface="Calibri"/>
              </a:rPr>
              <a:t> - 7</a:t>
            </a:r>
            <a:r>
              <a:rPr lang="en-US" sz="1800" b="0" u="none" strike="noStrike" baseline="30000">
                <a:solidFill>
                  <a:srgbClr val="000099"/>
                </a:solidFill>
                <a:effectLst/>
                <a:uFillTx/>
                <a:latin typeface="Calibri"/>
                <a:ea typeface="Calibri"/>
              </a:rPr>
              <a:t>th  </a:t>
            </a: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Calibri"/>
              </a:rPr>
              <a:t>February 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1"/>
          <p:cNvSpPr>
            <a:spLocks noGrp="1"/>
          </p:cNvSpPr>
          <p:nvPr>
            <p:ph type="ftr" idx="41"/>
          </p:nvPr>
        </p:nvSpPr>
        <p:spPr>
          <a:xfrm>
            <a:off x="2521080" y="6356520"/>
            <a:ext cx="71949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International Conference on Artificial Intelligence and Data Engineering (AIDE-2026)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1600200" y="2707200"/>
            <a:ext cx="9600840" cy="21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Usability Testing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Evaluated against standard text-based logs.</a:t>
            </a:r>
            <a:endParaRPr lang="en-US" sz="20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Reaction Time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Operators identified "Hostile" intrusions 40% faster using the EASEL map interface compared to raw lists.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Error Rate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Misinterpretation of drone heading reduced by 60% due to vector arrows.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914400" y="2084400"/>
            <a:ext cx="5456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Results - User Interface Evaluation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Picture 28" descr="A logo with colorful figures&#10;&#10;Description automatically generated with medium confidence"/>
          <p:cNvPicPr/>
          <p:nvPr/>
        </p:nvPicPr>
        <p:blipFill>
          <a:blip r:embed="rId1"/>
          <a:stretch/>
        </p:blipFill>
        <p:spPr>
          <a:xfrm>
            <a:off x="5304240" y="140760"/>
            <a:ext cx="1582920" cy="1113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" name="Picture 29"/>
          <p:cNvPicPr/>
          <p:nvPr/>
        </p:nvPicPr>
        <p:blipFill>
          <a:blip r:embed="rId2"/>
          <a:stretch/>
        </p:blipFill>
        <p:spPr>
          <a:xfrm>
            <a:off x="10081800" y="0"/>
            <a:ext cx="1582920" cy="134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1" name="Picture 30"/>
          <p:cNvPicPr/>
          <p:nvPr/>
        </p:nvPicPr>
        <p:blipFill>
          <a:blip r:embed="rId3"/>
          <a:stretch/>
        </p:blipFill>
        <p:spPr>
          <a:xfrm>
            <a:off x="89280" y="342720"/>
            <a:ext cx="3924360" cy="54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TextBox 15"/>
          <p:cNvSpPr/>
          <p:nvPr/>
        </p:nvSpPr>
        <p:spPr>
          <a:xfrm>
            <a:off x="1763640" y="1193760"/>
            <a:ext cx="86637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Times New Roman"/>
              </a:rPr>
              <a:t>International conference on Artificial Intelligence and Data Engineering – AIDE 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Calibri"/>
                <a:ea typeface="Calibri"/>
              </a:rPr>
              <a:t>5</a:t>
            </a:r>
            <a:r>
              <a:rPr lang="en-US" sz="1800" b="0" u="none" strike="noStrike" baseline="30000">
                <a:solidFill>
                  <a:srgbClr val="000099"/>
                </a:solidFill>
                <a:effectLst/>
                <a:uFillTx/>
                <a:latin typeface="Calibri"/>
                <a:ea typeface="Calibri"/>
              </a:rPr>
              <a:t>th</a:t>
            </a: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Calibri"/>
                <a:ea typeface="Calibri"/>
              </a:rPr>
              <a:t> - 7</a:t>
            </a:r>
            <a:r>
              <a:rPr lang="en-US" sz="1800" b="0" u="none" strike="noStrike" baseline="30000">
                <a:solidFill>
                  <a:srgbClr val="000099"/>
                </a:solidFill>
                <a:effectLst/>
                <a:uFillTx/>
                <a:latin typeface="Calibri"/>
                <a:ea typeface="Calibri"/>
              </a:rPr>
              <a:t>th  </a:t>
            </a: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Calibri"/>
              </a:rPr>
              <a:t>February 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1"/>
          <p:cNvSpPr>
            <a:spLocks noGrp="1"/>
          </p:cNvSpPr>
          <p:nvPr>
            <p:ph type="ftr" idx="42"/>
          </p:nvPr>
        </p:nvSpPr>
        <p:spPr>
          <a:xfrm>
            <a:off x="2521080" y="6356520"/>
            <a:ext cx="71949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International Conference on Artificial Intelligence and Data Engineering (AIDE-2026)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3713040" y="3086280"/>
            <a:ext cx="4831200" cy="14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914400" y="2084400"/>
            <a:ext cx="36572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Comparative Summary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6" name=""/>
          <p:cNvGraphicFramePr/>
          <p:nvPr/>
        </p:nvGraphicFramePr>
        <p:xfrm>
          <a:off x="1247760" y="2800440"/>
          <a:ext cx="9144000" cy="3217680"/>
        </p:xfrm>
        <a:graphic>
          <a:graphicData uri="http://schemas.openxmlformats.org/drawingml/2006/table">
            <a:tbl>
              <a:tblPr/>
              <a:tblGrid>
                <a:gridCol w="3047760"/>
                <a:gridCol w="3047760"/>
                <a:gridCol w="3048480"/>
              </a:tblGrid>
              <a:tr h="66780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Feature</a:t>
                      </a:r>
                      <a:endParaRPr lang="en-US" sz="20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Standard Remote ID (WiFi/BLE)</a:t>
                      </a:r>
                      <a:endParaRPr lang="en-US" sz="20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EASEL (Proposed)</a:t>
                      </a:r>
                      <a:endParaRPr lang="en-US" sz="20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3324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Range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&lt; 0.5 km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&gt; 5.0 km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3324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Security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None / Open Broadcast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AES-128 Encrypted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3324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Operator View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Raw List / Basic App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Tactical Map (SA Optimized)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328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Infrastructure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Requires Density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Point-to-Point (No Internet)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Picture 34" descr="A logo with colorful figures&#10;&#10;Description automatically generated with medium confidence"/>
          <p:cNvPicPr/>
          <p:nvPr/>
        </p:nvPicPr>
        <p:blipFill>
          <a:blip r:embed="rId1"/>
          <a:stretch/>
        </p:blipFill>
        <p:spPr>
          <a:xfrm>
            <a:off x="5304240" y="140760"/>
            <a:ext cx="1582920" cy="1113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8" name="Picture 35"/>
          <p:cNvPicPr/>
          <p:nvPr/>
        </p:nvPicPr>
        <p:blipFill>
          <a:blip r:embed="rId2"/>
          <a:stretch/>
        </p:blipFill>
        <p:spPr>
          <a:xfrm>
            <a:off x="10081800" y="0"/>
            <a:ext cx="1582920" cy="134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9" name="Picture 36"/>
          <p:cNvPicPr/>
          <p:nvPr/>
        </p:nvPicPr>
        <p:blipFill>
          <a:blip r:embed="rId3"/>
          <a:stretch/>
        </p:blipFill>
        <p:spPr>
          <a:xfrm>
            <a:off x="89280" y="342720"/>
            <a:ext cx="3924360" cy="54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TextBox 2"/>
          <p:cNvSpPr/>
          <p:nvPr/>
        </p:nvSpPr>
        <p:spPr>
          <a:xfrm>
            <a:off x="1763640" y="1193760"/>
            <a:ext cx="86637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Times New Roman"/>
              </a:rPr>
              <a:t>International conference on Artificial Intelligence and Data Engineering – AIDE 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Calibri"/>
                <a:ea typeface="Calibri"/>
              </a:rPr>
              <a:t>5</a:t>
            </a:r>
            <a:r>
              <a:rPr lang="en-US" sz="1800" b="0" u="none" strike="noStrike" baseline="30000">
                <a:solidFill>
                  <a:srgbClr val="000099"/>
                </a:solidFill>
                <a:effectLst/>
                <a:uFillTx/>
                <a:latin typeface="Calibri"/>
                <a:ea typeface="Calibri"/>
              </a:rPr>
              <a:t>th</a:t>
            </a: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Calibri"/>
                <a:ea typeface="Calibri"/>
              </a:rPr>
              <a:t> - 7</a:t>
            </a:r>
            <a:r>
              <a:rPr lang="en-US" sz="1800" b="0" u="none" strike="noStrike" baseline="30000">
                <a:solidFill>
                  <a:srgbClr val="000099"/>
                </a:solidFill>
                <a:effectLst/>
                <a:uFillTx/>
                <a:latin typeface="Calibri"/>
                <a:ea typeface="Calibri"/>
              </a:rPr>
              <a:t>th  </a:t>
            </a: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Calibri"/>
              </a:rPr>
              <a:t>February 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1"/>
          <p:cNvSpPr>
            <a:spLocks noGrp="1"/>
          </p:cNvSpPr>
          <p:nvPr>
            <p:ph type="ftr" idx="43"/>
          </p:nvPr>
        </p:nvSpPr>
        <p:spPr>
          <a:xfrm>
            <a:off x="2521080" y="6356520"/>
            <a:ext cx="71949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International Conference on Artificial Intelligence and Data Engineering (AIDE-2026)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1143000" y="3086280"/>
            <a:ext cx="9601200" cy="20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EASEL successfully extends Remote ID ranges to proposed distances (&gt;5km). (field tests are in the works)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system bridges the gap between Hardware Telemetry and Human Cognition by applying workload assessment theories (NASA-TLX).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Future scope includes integrating ADSB-In for mixed-airspace safety.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914400" y="2084400"/>
            <a:ext cx="36572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Conclusion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4" name=""/>
          <p:cNvPicPr/>
          <p:nvPr/>
        </p:nvPicPr>
        <p:blipFill>
          <a:blip r:embed="rId4"/>
          <a:stretch/>
        </p:blipFill>
        <p:spPr>
          <a:xfrm>
            <a:off x="10058400" y="4724280"/>
            <a:ext cx="2133720" cy="2133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Picture 25" descr="A logo with colorful figures&#10;&#10;Description automatically generated with medium confidence"/>
          <p:cNvPicPr/>
          <p:nvPr/>
        </p:nvPicPr>
        <p:blipFill>
          <a:blip r:embed="rId1"/>
          <a:stretch/>
        </p:blipFill>
        <p:spPr>
          <a:xfrm>
            <a:off x="5304240" y="140760"/>
            <a:ext cx="1582920" cy="1113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6" name="Picture 26"/>
          <p:cNvPicPr/>
          <p:nvPr/>
        </p:nvPicPr>
        <p:blipFill>
          <a:blip r:embed="rId2"/>
          <a:stretch/>
        </p:blipFill>
        <p:spPr>
          <a:xfrm>
            <a:off x="10081800" y="0"/>
            <a:ext cx="1582920" cy="134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7" name="Picture 27"/>
          <p:cNvPicPr/>
          <p:nvPr/>
        </p:nvPicPr>
        <p:blipFill>
          <a:blip r:embed="rId3"/>
          <a:stretch/>
        </p:blipFill>
        <p:spPr>
          <a:xfrm>
            <a:off x="89280" y="342720"/>
            <a:ext cx="3924360" cy="54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TextBox 10"/>
          <p:cNvSpPr/>
          <p:nvPr/>
        </p:nvSpPr>
        <p:spPr>
          <a:xfrm>
            <a:off x="1763640" y="1193760"/>
            <a:ext cx="86637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Times New Roman"/>
              </a:rPr>
              <a:t>International conference on Artificial Intelligence and Data Engineering – AIDE 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Calibri"/>
                <a:ea typeface="Calibri"/>
              </a:rPr>
              <a:t>5</a:t>
            </a:r>
            <a:r>
              <a:rPr lang="en-US" sz="1800" b="0" u="none" strike="noStrike" baseline="30000">
                <a:solidFill>
                  <a:srgbClr val="000099"/>
                </a:solidFill>
                <a:effectLst/>
                <a:uFillTx/>
                <a:latin typeface="Calibri"/>
                <a:ea typeface="Calibri"/>
              </a:rPr>
              <a:t>th</a:t>
            </a: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Calibri"/>
                <a:ea typeface="Calibri"/>
              </a:rPr>
              <a:t> - 7</a:t>
            </a:r>
            <a:r>
              <a:rPr lang="en-US" sz="1800" b="0" u="none" strike="noStrike" baseline="30000">
                <a:solidFill>
                  <a:srgbClr val="000099"/>
                </a:solidFill>
                <a:effectLst/>
                <a:uFillTx/>
                <a:latin typeface="Calibri"/>
                <a:ea typeface="Calibri"/>
              </a:rPr>
              <a:t>th  </a:t>
            </a: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Calibri"/>
              </a:rPr>
              <a:t>February 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1"/>
          <p:cNvSpPr>
            <a:spLocks noGrp="1"/>
          </p:cNvSpPr>
          <p:nvPr>
            <p:ph type="ftr" idx="44"/>
          </p:nvPr>
        </p:nvSpPr>
        <p:spPr>
          <a:xfrm>
            <a:off x="2521080" y="6356520"/>
            <a:ext cx="71949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International Conference on Artificial Intelligence and Data Engineering (AIDE-2026)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1492200" y="2322360"/>
            <a:ext cx="9937800" cy="339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Y. Chen, J. Li, and H. Wang, "Human-in-the-loop UAV Ground Control Systems: A Review," IEEE Access, vol. 10, pp. 99584-99601, 2022.</a:t>
            </a:r>
            <a:endParaRPr lang="en-US" sz="1600" b="0" i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R. Parasuraman and V. Riley, "Humans and automation: Use, misuse, disuse, abuse," Human Factors, vol. 39, no. 2, pp. 230-253, 1997.</a:t>
            </a:r>
            <a:endParaRPr lang="en-US" sz="1600" b="0" i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M. R. Endsley, "Designing for Situation Awareness: An Approach to User-Centered Design," CRC Press, 2016.</a:t>
            </a:r>
            <a:endParaRPr lang="en-US" sz="1600" b="0" i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S. G. Hart and L. E. Staveland, "Development of NASA-TLX: Results of Empirical and Theoretical Research," Advances in Psychology, vol. 52, pp. 139-183, 1988.</a:t>
            </a:r>
            <a:endParaRPr lang="en-US" sz="1600" b="0" i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Mosaic ATM, "Remote ID Demonstration and Validation Report," FAA UTM Project Report, 2021.</a:t>
            </a:r>
            <a:endParaRPr lang="en-US" sz="1600" b="0" i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914400" y="1855800"/>
            <a:ext cx="18666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References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AIDE 2026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IDE 2026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AIDE 2026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AIDE 2026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AIDE 2026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AIDE 2026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AIDE 2026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AIDE 2026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AIDE 2026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AIDE 2026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AIDE 2026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AIDE 2026</Template>
  <TotalTime>98</TotalTime>
  <Application>LibreOffice/25.8.4.2$Linux_X86_64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2026-01-31T06:15:24Z</dcterms:created>
  <dc:creator>Mr.Arhath Kumar</dc:creator>
  <dc:description/>
  <dc:language>en-US</dc:language>
  <cp:lastModifiedBy/>
  <cp:lastPrinted>2026-02-06T08:59:45Z</cp:lastPrinted>
  <dcterms:modified xsi:type="dcterms:W3CDTF">2026-02-06T08:59:50Z</dcterms:modified>
  <cp:revision>6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r8>3</vt:r8>
  </property>
</Properties>
</file>